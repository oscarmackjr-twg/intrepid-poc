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9" d="100"/>
          <a:sy n="99" d="100"/>
        </p:scale>
        <p:origin x="14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Intrepid Loan Purchase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A623"/>
                </a:solidFill>
              </a:rPr>
              <a:t>What the Application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1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53035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554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597"/>
                </a:solidFill>
              </a:rPr>
              <a:t>END-TO-END LOAN PROCESSING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1  Ingest  </a:t>
            </a:r>
            <a:r>
              <a:rPr sz="1100">
                <a:solidFill>
                  <a:srgbClr val="1A1A2E"/>
                </a:solidFill>
              </a:rPr>
              <a:t>Ops uploads a loan spreadsheet (up to ~1,000 loans per run)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2  Suitability  </a:t>
            </a:r>
            <a:r>
              <a:rPr sz="1100">
                <a:solidFill>
                  <a:srgbClr val="1A1A2E"/>
                </a:solidFill>
              </a:rPr>
              <a:t>Automated rules engine scores each loan against eligibility criteria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3  Tag  </a:t>
            </a:r>
            <a:r>
              <a:rPr sz="1100">
                <a:solidFill>
                  <a:srgbClr val="1A1A2E"/>
                </a:solidFill>
              </a:rPr>
              <a:t>Loans are assigned to counterparty channels (Prime / SFY)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4  Cashflow  </a:t>
            </a:r>
            <a:r>
              <a:rPr sz="1100">
                <a:solidFill>
                  <a:srgbClr val="1A1A2E"/>
                </a:solidFill>
              </a:rPr>
              <a:t>CPU-intensive cashflow calculations run in a dedicated compute task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5  Review  </a:t>
            </a:r>
            <a:r>
              <a:rPr sz="1100">
                <a:solidFill>
                  <a:srgbClr val="1A1A2E"/>
                </a:solidFill>
              </a:rPr>
              <a:t>Exceptions and rejected loans surface in dashboards for Ops review</a:t>
            </a:r>
          </a:p>
          <a:p>
            <a:pPr>
              <a:spcBef>
                <a:spcPts val="600"/>
              </a:spcBef>
            </a:pPr>
            <a:r>
              <a:rPr sz="1100" b="1">
                <a:solidFill>
                  <a:srgbClr val="1B5597"/>
                </a:solidFill>
              </a:rPr>
              <a:t>6  Output  </a:t>
            </a:r>
            <a:r>
              <a:rPr sz="1100">
                <a:solidFill>
                  <a:srgbClr val="1A1A2E"/>
                </a:solidFill>
              </a:rPr>
              <a:t>Wire instruction PDFs generated; email delivery via SES (v1.1)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1463040"/>
            <a:ext cx="566928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155448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5597"/>
                </a:solidFill>
              </a:rPr>
              <a:t>OPERATIONAL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Users:  </a:t>
            </a:r>
            <a:r>
              <a:rPr sz="1100">
                <a:solidFill>
                  <a:srgbClr val="1A1A2E"/>
                </a:solidFill>
              </a:rPr>
              <a:t>Internal Operations team only — no external access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Run Frequency:  </a:t>
            </a:r>
            <a:r>
              <a:rPr sz="1100">
                <a:solidFill>
                  <a:srgbClr val="1A1A2E"/>
                </a:solidFill>
              </a:rPr>
              <a:t>Approx. 2x per working week when loan tapes arrive via email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Volume:  </a:t>
            </a:r>
            <a:r>
              <a:rPr sz="1100">
                <a:solidFill>
                  <a:srgbClr val="1A1A2E"/>
                </a:solidFill>
              </a:rPr>
              <a:t>~1,000 loans per run (two spreadsheets of ~500 loans each)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Counterparties:  </a:t>
            </a:r>
            <a:r>
              <a:rPr sz="1100">
                <a:solidFill>
                  <a:srgbClr val="1A1A2E"/>
                </a:solidFill>
              </a:rPr>
              <a:t>Two channels: Prime and SFY — loans may tag to one or both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Auditability:  </a:t>
            </a:r>
            <a:r>
              <a:rPr sz="1100">
                <a:solidFill>
                  <a:srgbClr val="1A1A2E"/>
                </a:solidFill>
              </a:rPr>
              <a:t>Every run is tracked; exceptions and rejections persisted</a:t>
            </a:r>
          </a:p>
          <a:p>
            <a:pPr>
              <a:spcBef>
                <a:spcPts val="800"/>
              </a:spcBef>
            </a:pPr>
            <a:r>
              <a:rPr sz="1100" b="1">
                <a:solidFill>
                  <a:srgbClr val="0D2B4E"/>
                </a:solidFill>
              </a:rPr>
              <a:t>Goal:  </a:t>
            </a:r>
            <a:r>
              <a:rPr sz="1100">
                <a:solidFill>
                  <a:srgbClr val="1A1A2E"/>
                </a:solidFill>
              </a:rPr>
              <a:t>Replace ad hoc scripts with a controlled, visible, repeatable process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4E"/>
                </a:solidFill>
              </a:rPr>
              <a:t>Core value: loan tape to reviewed output in a single auditable workflow — no spreadsheet hand-offs, no undocumented scripts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0"/>
          </a:xfrm>
          <a:prstGeom prst="rect">
            <a:avLst/>
          </a:prstGeom>
          <a:solidFill>
            <a:srgbClr val="0D2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1280160"/>
            <a:ext cx="12191695" cy="54864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65760" y="1645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Intrepid Loan Purchase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13232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5A623"/>
                </a:solidFill>
              </a:rPr>
              <a:t>Technology Stack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76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2 / 3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4630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65760" y="1463040"/>
            <a:ext cx="3657600" cy="384048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APPLICATION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React 19 (TypeScript)  </a:t>
            </a:r>
            <a:r>
              <a:rPr sz="1000">
                <a:solidFill>
                  <a:srgbClr val="1A1A2E"/>
                </a:solidFill>
              </a:rPr>
              <a:t>Browser SPA — dashboard, file manager, pipeline views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Python FastAPI  </a:t>
            </a:r>
            <a:r>
              <a:rPr sz="1000">
                <a:solidFill>
                  <a:srgbClr val="1A1A2E"/>
                </a:solidFill>
              </a:rPr>
              <a:t>REST API; also serves React static files in production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SQLAlchemy + Alembic  </a:t>
            </a:r>
            <a:r>
              <a:rPr sz="1000">
                <a:solidFill>
                  <a:srgbClr val="1A1A2E"/>
                </a:solidFill>
              </a:rPr>
              <a:t>ORM and automated schema migration management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PostgreSQL  </a:t>
            </a:r>
            <a:r>
              <a:rPr sz="1000">
                <a:solidFill>
                  <a:srgbClr val="1A1A2E"/>
                </a:solidFill>
              </a:rPr>
              <a:t>Primary database — loan facts, exceptions, run history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4630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463040"/>
            <a:ext cx="3657600" cy="384048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AWS INFRASTRUCTURE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53128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ECS Fargate  </a:t>
            </a:r>
            <a:r>
              <a:rPr sz="1000">
                <a:solidFill>
                  <a:srgbClr val="1A1A2E"/>
                </a:solidFill>
              </a:rPr>
              <a:t>Serverless containers — no EC2 instances to manage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RDS PostgreSQL  </a:t>
            </a:r>
            <a:r>
              <a:rPr sz="1000">
                <a:solidFill>
                  <a:srgbClr val="1A1A2E"/>
                </a:solidFill>
              </a:rPr>
              <a:t>Managed database; private subnet, no public exposure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ALB  </a:t>
            </a:r>
            <a:r>
              <a:rPr sz="1000">
                <a:solidFill>
                  <a:srgbClr val="1A1A2E"/>
                </a:solidFill>
              </a:rPr>
              <a:t>HTTPS termination, health-check routing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S3  </a:t>
            </a:r>
            <a:r>
              <a:rPr sz="1000">
                <a:solidFill>
                  <a:srgbClr val="1A1A2E"/>
                </a:solidFill>
              </a:rPr>
              <a:t>Loan spreadsheet and output file storage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ECR  </a:t>
            </a:r>
            <a:r>
              <a:rPr sz="1000">
                <a:solidFill>
                  <a:srgbClr val="1A1A2E"/>
                </a:solidFill>
              </a:rPr>
              <a:t>Private Docker image registry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SES  </a:t>
            </a:r>
            <a:r>
              <a:rPr sz="1000">
                <a:solidFill>
                  <a:srgbClr val="1A1A2E"/>
                </a:solidFill>
              </a:rPr>
              <a:t>Transactional email (wire instructions — v1.1)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Secrets Manager  </a:t>
            </a:r>
            <a:r>
              <a:rPr sz="1000">
                <a:solidFill>
                  <a:srgbClr val="1A1A2E"/>
                </a:solidFill>
              </a:rPr>
              <a:t>Stores DB credentials and app secret keys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463040"/>
            <a:ext cx="365760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321040" y="1463040"/>
            <a:ext cx="3657600" cy="384048"/>
          </a:xfrm>
          <a:prstGeom prst="rect">
            <a:avLst/>
          </a:prstGeom>
          <a:solidFill>
            <a:srgbClr val="1B55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50876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</a:rPr>
              <a:t>DELIVERY PIPELINE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7" y="192024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Terraform  </a:t>
            </a:r>
            <a:r>
              <a:rPr sz="1000">
                <a:solidFill>
                  <a:srgbClr val="1A1A2E"/>
                </a:solidFill>
              </a:rPr>
              <a:t>Infrastructure-as-Code; reproducible qa/prod environments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Docker  </a:t>
            </a:r>
            <a:r>
              <a:rPr sz="1000">
                <a:solidFill>
                  <a:srgbClr val="1A1A2E"/>
                </a:solidFill>
              </a:rPr>
              <a:t>Single image: React built into FastAPI at build time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GitHub Actions  </a:t>
            </a:r>
            <a:r>
              <a:rPr sz="1000">
                <a:solidFill>
                  <a:srgbClr val="1A1A2E"/>
                </a:solidFill>
              </a:rPr>
              <a:t>CI/CD: push to main triggers build, ECR push, ECS deploy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OIDC Auth  </a:t>
            </a:r>
            <a:r>
              <a:rPr sz="1000">
                <a:solidFill>
                  <a:srgbClr val="1A1A2E"/>
                </a:solidFill>
              </a:rPr>
              <a:t>Keyless AWS auth — no long-lived secrets in CI</a:t>
            </a:r>
          </a:p>
          <a:p>
            <a:pPr>
              <a:spcBef>
                <a:spcPts val="700"/>
              </a:spcBef>
            </a:pPr>
            <a:r>
              <a:rPr sz="1100" b="1">
                <a:solidFill>
                  <a:srgbClr val="0D2B4E"/>
                </a:solidFill>
              </a:rPr>
              <a:t>Alembic migrations  </a:t>
            </a:r>
            <a:r>
              <a:rPr sz="1000">
                <a:solidFill>
                  <a:srgbClr val="1A1A2E"/>
                </a:solidFill>
              </a:rPr>
              <a:t>Auto-run on every deploy before traffic is shifted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6400800"/>
            <a:ext cx="11430000" cy="32004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419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2B4E"/>
                </a:solidFill>
              </a:rPr>
              <a:t>All infrastructure is version-controlled via Terraform — environments are reproducible and auditable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385</Words>
  <Application>Microsoft Office PowerPoint</Application>
  <PresentationFormat>Widescreen</PresentationFormat>
  <Paragraphs>41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Oscar Mack</cp:lastModifiedBy>
  <cp:revision>2</cp:revision>
  <dcterms:created xsi:type="dcterms:W3CDTF">2013-01-27T09:14:16Z</dcterms:created>
  <dcterms:modified xsi:type="dcterms:W3CDTF">2026-03-06T21:18:16Z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2026-03-06T21:18:07Z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8c10ab77-83ad-4002-ae50-e8324fa0e310</vt:lpwstr>
  </property>
  <property fmtid="{D5CDD505-2E9C-101B-9397-08002B2CF9AE}" pid="7" name="MSIP_Label_defa4170-0d19-0005-0004-bc88714345d2_ActionId">
    <vt:lpwstr>33712eac-b8bf-41fa-9880-6d61cbc427fa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