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Intrepid Loan Purchase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A623"/>
                </a:solidFill>
              </a:rPr>
              <a:t>What the Application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0" y="6492240"/>
            <a:ext cx="761695" cy="365760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6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 / 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597"/>
                </a:solidFill>
              </a:rPr>
              <a:t>END-TO-END LOAN PROCESSING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1  Ingest  </a:t>
            </a:r>
            <a:r>
              <a:rPr sz="1100">
                <a:solidFill>
                  <a:srgbClr val="1A1A2E"/>
                </a:solidFill>
              </a:rPr>
              <a:t>Ops uploads a loan spreadsheet (up to ~1,000 loans per run)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2  Suitability  </a:t>
            </a:r>
            <a:r>
              <a:rPr sz="1100">
                <a:solidFill>
                  <a:srgbClr val="1A1A2E"/>
                </a:solidFill>
              </a:rPr>
              <a:t>Automated rules engine scores each loan against eligibility criteria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3  Tag  </a:t>
            </a:r>
            <a:r>
              <a:rPr sz="1100">
                <a:solidFill>
                  <a:srgbClr val="1A1A2E"/>
                </a:solidFill>
              </a:rPr>
              <a:t>Loans are assigned to counterparty channels (Prime / SFY)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4  Cashflow  </a:t>
            </a:r>
            <a:r>
              <a:rPr sz="1100">
                <a:solidFill>
                  <a:srgbClr val="1A1A2E"/>
                </a:solidFill>
              </a:rPr>
              <a:t>CPU-intensive cashflow calculations run in a dedicated compute task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5  Review  </a:t>
            </a:r>
            <a:r>
              <a:rPr sz="1100">
                <a:solidFill>
                  <a:srgbClr val="1A1A2E"/>
                </a:solidFill>
              </a:rPr>
              <a:t>Exceptions and rejected loans surface in dashboards for Ops review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6  Output  </a:t>
            </a:r>
            <a:r>
              <a:rPr sz="1100">
                <a:solidFill>
                  <a:srgbClr val="1A1A2E"/>
                </a:solidFill>
              </a:rPr>
              <a:t>Wire instruction PDFs generated; email delivery via SES (v1.1)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597"/>
                </a:solidFill>
              </a:rPr>
              <a:t>OPERATIONAL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Users:  </a:t>
            </a:r>
            <a:r>
              <a:rPr sz="1100">
                <a:solidFill>
                  <a:srgbClr val="1A1A2E"/>
                </a:solidFill>
              </a:rPr>
              <a:t>Internal Operations team only — no external access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Run Frequency:  </a:t>
            </a:r>
            <a:r>
              <a:rPr sz="1100">
                <a:solidFill>
                  <a:srgbClr val="1A1A2E"/>
                </a:solidFill>
              </a:rPr>
              <a:t>Approx. 2x per working week when loan tapes arrive via email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Volume:  </a:t>
            </a:r>
            <a:r>
              <a:rPr sz="1100">
                <a:solidFill>
                  <a:srgbClr val="1A1A2E"/>
                </a:solidFill>
              </a:rPr>
              <a:t>~1,000 loans per run (two spreadsheets of ~500 loans each)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Counterparties:  </a:t>
            </a:r>
            <a:r>
              <a:rPr sz="1100">
                <a:solidFill>
                  <a:srgbClr val="1A1A2E"/>
                </a:solidFill>
              </a:rPr>
              <a:t>Two channels: Prime and SFY — loans may tag to one or both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Auditability:  </a:t>
            </a:r>
            <a:r>
              <a:rPr sz="1100">
                <a:solidFill>
                  <a:srgbClr val="1A1A2E"/>
                </a:solidFill>
              </a:rPr>
              <a:t>Every run is tracked; exceptions and rejections persisted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Goal:  </a:t>
            </a:r>
            <a:r>
              <a:rPr sz="1100">
                <a:solidFill>
                  <a:srgbClr val="1A1A2E"/>
                </a:solidFill>
              </a:rPr>
              <a:t>Replace ad hoc scripts with a controlled, visible, repeatable process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4E"/>
                </a:solidFill>
              </a:rPr>
              <a:t>Core value: loan tape to reviewed output in a single auditable workflow — no spreadsheet hand-offs, no undocumented scripts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Intrepid Loan Purchase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A623"/>
                </a:solidFill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0" y="6492240"/>
            <a:ext cx="761695" cy="365760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6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 / 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657600" cy="384048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202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React 19 (TypeScript)  </a:t>
            </a:r>
            <a:r>
              <a:rPr sz="1000">
                <a:solidFill>
                  <a:srgbClr val="1A1A2E"/>
                </a:solidFill>
              </a:rPr>
              <a:t>Browser SPA — dashboard, file manager, pipeline views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Python FastAPI  </a:t>
            </a:r>
            <a:r>
              <a:rPr sz="1000">
                <a:solidFill>
                  <a:srgbClr val="1A1A2E"/>
                </a:solidFill>
              </a:rPr>
              <a:t>REST API; also serves React static files in production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SQLAlchemy + Alembic  </a:t>
            </a:r>
            <a:r>
              <a:rPr sz="1000">
                <a:solidFill>
                  <a:srgbClr val="1A1A2E"/>
                </a:solidFill>
              </a:rPr>
              <a:t>ORM and automated schema migration management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PostgreSQL  </a:t>
            </a:r>
            <a:r>
              <a:rPr sz="1000">
                <a:solidFill>
                  <a:srgbClr val="1A1A2E"/>
                </a:solidFill>
              </a:rPr>
              <a:t>Primary database — loan facts, exceptions, run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657600" cy="384048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AWS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202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ECS Fargate  </a:t>
            </a:r>
            <a:r>
              <a:rPr sz="1000">
                <a:solidFill>
                  <a:srgbClr val="1A1A2E"/>
                </a:solidFill>
              </a:rPr>
              <a:t>Serverless containers — no EC2 instances to manage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RDS PostgreSQL  </a:t>
            </a:r>
            <a:r>
              <a:rPr sz="1000">
                <a:solidFill>
                  <a:srgbClr val="1A1A2E"/>
                </a:solidFill>
              </a:rPr>
              <a:t>Managed database; private subnet, no public exposure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ALB  </a:t>
            </a:r>
            <a:r>
              <a:rPr sz="1000">
                <a:solidFill>
                  <a:srgbClr val="1A1A2E"/>
                </a:solidFill>
              </a:rPr>
              <a:t>HTTPS termination, health-check routing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S3  </a:t>
            </a:r>
            <a:r>
              <a:rPr sz="1000">
                <a:solidFill>
                  <a:srgbClr val="1A1A2E"/>
                </a:solidFill>
              </a:rPr>
              <a:t>Loan spreadsheet and output file storage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ECR  </a:t>
            </a:r>
            <a:r>
              <a:rPr sz="1000">
                <a:solidFill>
                  <a:srgbClr val="1A1A2E"/>
                </a:solidFill>
              </a:rPr>
              <a:t>Private Docker image registry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SES  </a:t>
            </a:r>
            <a:r>
              <a:rPr sz="1000">
                <a:solidFill>
                  <a:srgbClr val="1A1A2E"/>
                </a:solidFill>
              </a:rPr>
              <a:t>Transactional email (wire instructions — v1.1)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Secrets Manager  </a:t>
            </a:r>
            <a:r>
              <a:rPr sz="1000">
                <a:solidFill>
                  <a:srgbClr val="1A1A2E"/>
                </a:solidFill>
              </a:rPr>
              <a:t>Stores DB credentials and app secret keys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46304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463040"/>
            <a:ext cx="3657600" cy="384048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DELIVERY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19202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Terraform  </a:t>
            </a:r>
            <a:r>
              <a:rPr sz="1000">
                <a:solidFill>
                  <a:srgbClr val="1A1A2E"/>
                </a:solidFill>
              </a:rPr>
              <a:t>Infrastructure-as-Code; reproducible qa/prod environments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Docker  </a:t>
            </a:r>
            <a:r>
              <a:rPr sz="1000">
                <a:solidFill>
                  <a:srgbClr val="1A1A2E"/>
                </a:solidFill>
              </a:rPr>
              <a:t>Single image: React built into FastAPI at build time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GitHub Actions  </a:t>
            </a:r>
            <a:r>
              <a:rPr sz="1000">
                <a:solidFill>
                  <a:srgbClr val="1A1A2E"/>
                </a:solidFill>
              </a:rPr>
              <a:t>CI/CD: push to main triggers build, ECR push, ECS deploy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OIDC Auth  </a:t>
            </a:r>
            <a:r>
              <a:rPr sz="1000">
                <a:solidFill>
                  <a:srgbClr val="1A1A2E"/>
                </a:solidFill>
              </a:rPr>
              <a:t>Keyless AWS auth — no long-lived secrets in CI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Alembic migrations  </a:t>
            </a:r>
            <a:r>
              <a:rPr sz="1000">
                <a:solidFill>
                  <a:srgbClr val="1A1A2E"/>
                </a:solidFill>
              </a:rPr>
              <a:t>Auto-run on every deploy before traffic is shifted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4E"/>
                </a:solidFill>
              </a:rPr>
              <a:t>All infrastructure is version-controlled via Terraform — environments are reproducible and auditable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Intrepid Loan Purchase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A623"/>
                </a:solidFill>
              </a:rPr>
              <a:t>Skill Set Required to Support the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0" y="6492240"/>
            <a:ext cx="761695" cy="365760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6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 / 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5778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577840" cy="420624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27048"/>
            <a:ext cx="36255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 / Backend Developer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8691" y="1563624"/>
            <a:ext cx="1673351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4411" y="1572768"/>
            <a:ext cx="1506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2B4E"/>
                </a:solidFill>
              </a:rPr>
              <a:t>Primary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47672"/>
            <a:ext cx="5349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Python 3.x — FastAPI, SQLAlchemy, Alembic migrations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PostgreSQL — schema design, query troubleshooting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Financial logic — Decimal arithmetic, suitability rules, cashflow models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Docker — multi-stage image builds, container troubleshooting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REST API design; background task / subprocess execution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55778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577840" cy="420624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27048"/>
            <a:ext cx="36255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 Developer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93731" y="1563624"/>
            <a:ext cx="1673351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39451" y="1572768"/>
            <a:ext cx="1506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2B4E"/>
                </a:solidFill>
              </a:rPr>
              <a:t>Feature &amp; UI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47672"/>
            <a:ext cx="5349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React 19 (TypeScript) — SPA, React Router, Context API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Tailwind CSS — utility-first styling and responsive layout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Vite — build tooling, environment variable handling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REST API integration (fetch / Axios patterns)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87368"/>
            <a:ext cx="55778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087368"/>
            <a:ext cx="5577840" cy="420624"/>
          </a:xfrm>
          <a:prstGeom prst="rect">
            <a:avLst/>
          </a:prstGeom>
          <a:solidFill>
            <a:srgbClr val="2E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51376"/>
            <a:ext cx="36255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Cloud / DevOps Engineer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58691" y="4187952"/>
            <a:ext cx="1673351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4411" y="4197096"/>
            <a:ext cx="1506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2B4E"/>
                </a:solidFill>
              </a:rPr>
              <a:t>Infra &amp; Pipeline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72000"/>
            <a:ext cx="5349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AWS — ECS Fargate, RDS, ALB, S3, ECR, Secrets Manager, SES, IAM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Terraform — IaC authoring, workspace management, state backend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GitHub Actions — CI/CD pipeline, OIDC auth, workflow debugging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CloudWatch Logs monitoring; VPC / security group management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Docker image builds and ECR registry operations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087368"/>
            <a:ext cx="55778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087368"/>
            <a:ext cx="5577840" cy="420624"/>
          </a:xfrm>
          <a:prstGeom prst="rect">
            <a:avLst/>
          </a:prstGeom>
          <a:solidFill>
            <a:srgbClr val="6B4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51376"/>
            <a:ext cx="36255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Operations 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3731" y="4187952"/>
            <a:ext cx="1673351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39451" y="4197096"/>
            <a:ext cx="1506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2B4E"/>
                </a:solidFill>
              </a:rPr>
              <a:t>Day-to-Day &amp; L1 Triage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572000"/>
            <a:ext cx="5349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Upload loan tapes and trigger pipeline runs via the web UI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Review exceptions and rejected loans in the dashboard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AWS Console basics — ECS task logs, S3 file browser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Run AWS CLI maintenance scripts (documented runbook in CICD.md)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  Escalation path to Backend Dev for pipeline logic issues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190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4E"/>
                </a:solidFill>
              </a:rPr>
              <a:t>Minimum viable support team: 1 Python/Backend Dev + 1 Cloud/DevOps Engineer.  Frontend and Ops support added as workload demands.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